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5072" cy="6858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59E0B"/>
                </a:solidFill>
                <a:latin typeface="Georgia"/>
              </a:rPr>
              <a:t>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45309"/>
                </a:solidFill>
                <a:latin typeface="Helvetica Neue"/>
              </a:rPr>
              <a:t>AGENT FORGE AI HACKATHON  ·  SAN FRANCISCO  ·  MAY 16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498079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9090B"/>
                </a:solidFill>
                <a:latin typeface="Georgia"/>
              </a:rPr>
              <a:t>The friend every working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9090B"/>
                </a:solidFill>
                <a:latin typeface="Georgia"/>
              </a:rPr>
              <a:t>mom can </a:t>
            </a:r>
            <a:r>
              <a:rPr sz="4000" b="1" i="1">
                <a:solidFill>
                  <a:srgbClr val="B45309"/>
                </a:solidFill>
                <a:latin typeface="Georgia"/>
              </a:rPr>
              <a:t>finally afford</a:t>
            </a:r>
            <a:r>
              <a:rPr sz="4000" b="1" i="0">
                <a:solidFill>
                  <a:srgbClr val="09090B"/>
                </a:solidFill>
                <a:latin typeface="Georg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F3F46"/>
                </a:solidFill>
                <a:latin typeface="Helvetica Neue"/>
              </a:rPr>
              <a:t>A 5-agent AI swarm that delivers $2,000 of consultant work — market research, compliance review, copywriting, launch — free, for America's 7 million working single moms.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521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3F3F46"/>
                </a:solidFill>
                <a:latin typeface="Helvetica Neue"/>
              </a:rPr>
              <a:t>LIVE DEMO  ·  REAL GEMINI  ·  REAL CITED .GOV LAW  ·  REAL LAUNCH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45309"/>
                </a:solidFill>
                <a:latin typeface="Helvetica Neue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5803D"/>
                </a:solidFill>
                <a:latin typeface="Helvetica Neue"/>
              </a:rPr>
              <a:t>✓  </a:t>
            </a:r>
            <a:r>
              <a:rPr sz="1300" b="1" i="0">
                <a:solidFill>
                  <a:srgbClr val="18181B"/>
                </a:solidFill>
                <a:latin typeface="Helvetica Neue"/>
              </a:rPr>
              <a:t>Profiles </a:t>
            </a:r>
            <a:r>
              <a:rPr sz="1300" b="0" i="0">
                <a:solidFill>
                  <a:srgbClr val="3F3F46"/>
                </a:solidFill>
                <a:latin typeface="Helvetica Neue"/>
              </a:rPr>
              <a:t>her skills, hours, gap, and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5803D"/>
                </a:solidFill>
                <a:latin typeface="Helvetica Neue"/>
              </a:rPr>
              <a:t>✓  </a:t>
            </a:r>
            <a:r>
              <a:rPr sz="1300" b="1" i="0">
                <a:solidFill>
                  <a:srgbClr val="18181B"/>
                </a:solidFill>
                <a:latin typeface="Helvetica Neue"/>
              </a:rPr>
              <a:t>Finds </a:t>
            </a:r>
            <a:r>
              <a:rPr sz="1300" b="0" i="0">
                <a:solidFill>
                  <a:srgbClr val="3F3F46"/>
                </a:solidFill>
                <a:latin typeface="Helvetica Neue"/>
              </a:rPr>
              <a:t>6–10 realistic income paths from real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5803D"/>
                </a:solidFill>
                <a:latin typeface="Helvetica Neue"/>
              </a:rPr>
              <a:t>✓  </a:t>
            </a:r>
            <a:r>
              <a:rPr sz="1300" b="1" i="0">
                <a:solidFill>
                  <a:srgbClr val="18181B"/>
                </a:solidFill>
                <a:latin typeface="Helvetica Neue"/>
              </a:rPr>
              <a:t>Blocks </a:t>
            </a:r>
            <a:r>
              <a:rPr sz="1300" b="0" i="0">
                <a:solidFill>
                  <a:srgbClr val="3F3F46"/>
                </a:solidFill>
                <a:latin typeface="Helvetica Neue"/>
              </a:rPr>
              <a:t>anything illegal — cites the actual .gov law on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5468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5803D"/>
                </a:solidFill>
                <a:latin typeface="Helvetica Neue"/>
              </a:rPr>
              <a:t>✓  </a:t>
            </a:r>
            <a:r>
              <a:rPr sz="1300" b="1" i="0">
                <a:solidFill>
                  <a:srgbClr val="18181B"/>
                </a:solidFill>
                <a:latin typeface="Helvetica Neue"/>
              </a:rPr>
              <a:t>Writes </a:t>
            </a:r>
            <a:r>
              <a:rPr sz="1300" b="0" i="0">
                <a:solidFill>
                  <a:srgbClr val="3F3F46"/>
                </a:solidFill>
                <a:latin typeface="Helvetica Neue"/>
              </a:rPr>
              <a:t>her offer, copy, price, and 7-day launch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9476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5803D"/>
                </a:solidFill>
                <a:latin typeface="Helvetica Neue"/>
              </a:rPr>
              <a:t>✓  </a:t>
            </a:r>
            <a:r>
              <a:rPr sz="1300" b="1" i="0">
                <a:solidFill>
                  <a:srgbClr val="18181B"/>
                </a:solidFill>
                <a:latin typeface="Helvetica Neue"/>
              </a:rPr>
              <a:t>Publishes </a:t>
            </a:r>
            <a:r>
              <a:rPr sz="1300" b="0" i="0">
                <a:solidFill>
                  <a:srgbClr val="3F3F46"/>
                </a:solidFill>
                <a:latin typeface="Helvetica Neue"/>
              </a:rPr>
              <a:t>a real shareable landing page in 38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578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B45309"/>
                </a:solidFill>
                <a:latin typeface="Helvetica Neue"/>
              </a:rPr>
              <a:t>BUILT IN 24 HOURS  ·  SOLO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5778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8181B"/>
                </a:solidFill>
                <a:latin typeface="Georgia"/>
              </a:rPr>
              <a:t>Avinash Ahuja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989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1717A"/>
                </a:solidFill>
                <a:latin typeface="Courier New"/>
              </a:rPr>
              <a:t>github.com/Avinash07-git/momsaheli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Helvetica Neue"/>
              </a:rPr>
              <a:t>Mom's Saheli  ·  Agent Forge AI Hackathon  ·  San Francisco  ·  May 16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Courier New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45309"/>
                </a:solidFill>
                <a:latin typeface="Helvetica Neue"/>
              </a:rPr>
              <a:t>THE WORLD'S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9090B"/>
                </a:solidFill>
                <a:latin typeface="Georgia"/>
              </a:rPr>
              <a:t>She's not short on effort.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9090B"/>
                </a:solidFill>
                <a:latin typeface="Georgia"/>
              </a:rPr>
              <a:t/>
            </a:r>
            <a:r>
              <a:rPr sz="4400" b="1" i="1">
                <a:solidFill>
                  <a:srgbClr val="B45309"/>
                </a:solidFill>
                <a:latin typeface="Georgia"/>
              </a:rPr>
              <a:t>She's short on margin.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71717A"/>
                </a:solidFill>
                <a:latin typeface="Helvetica Neue"/>
              </a:rPr>
              <a:t>America's working single moms aren't undermotivated. They're under-margined. Every dollar of help they need is gated by an expert who charges more than they 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033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DF8F0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B45309"/>
                </a:solidFill>
                <a:latin typeface="Georgia"/>
              </a:rPr>
              <a:t>7.3M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single moms in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America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SOURCE: CENTER FOR AMERICAN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7033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DF8F0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B45309"/>
                </a:solidFill>
                <a:latin typeface="Georgia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already working —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most full-time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34924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SOURCE: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DF8F0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B45309"/>
                </a:solidFill>
                <a:latin typeface="Georgia"/>
              </a:rPr>
              <a:t>$40K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median income for a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working single mom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34924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SOURCE: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7033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DF8F0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B45309"/>
                </a:solidFill>
                <a:latin typeface="Georgia"/>
              </a:rPr>
              <a:t>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of that income eaten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8181B"/>
                </a:solidFill>
                <a:latin typeface="Helvetica Neue"/>
              </a:rPr>
              <a:t>by childcare alone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534924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SOURCE: CHILD CARE AWARE OF AMERICA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43600"/>
            <a:ext cx="10927080" cy="4572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980176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D4D4D1"/>
                </a:solidFill>
                <a:latin typeface="Helvetica Neue"/>
              </a:rPr>
              <a:t>Help she needs:  </a:t>
            </a:r>
            <a:r>
              <a:rPr sz="1100" b="1" i="0">
                <a:solidFill>
                  <a:srgbClr val="FDF8F0"/>
                </a:solidFill>
                <a:latin typeface="Helvetica Neue"/>
              </a:rPr>
              <a:t>consultant $2,000  ·  lawyer $200/hr  ·  marketer $200/hr  ·  bookkeeper $200/hr</a:t>
            </a:r>
            <a:r>
              <a:rPr sz="1100" b="0" i="0">
                <a:solidFill>
                  <a:srgbClr val="D4D4D1"/>
                </a:solidFill>
                <a:latin typeface="Helvetica Neue"/>
              </a:rPr>
              <a:t>        Help she can afford:  </a:t>
            </a:r>
            <a:r>
              <a:rPr sz="1400" b="1" i="0">
                <a:solidFill>
                  <a:srgbClr val="F59E0B"/>
                </a:solidFill>
                <a:latin typeface="Helvetica Neue"/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Helvetica Neue"/>
              </a:rPr>
              <a:t>Mom's Saheli  ·  Agent Forge AI Hackathon  ·  San Francisco  ·  May 16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Courier New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45309"/>
                </a:solidFill>
                <a:latin typeface="Helvetica Neue"/>
              </a:rPr>
              <a:t>OUR SOLUTION  ·  MOM'S SAHELI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9090B"/>
                </a:solidFill>
                <a:latin typeface="Georgia"/>
              </a:rPr>
              <a:t>5 specialist AI agents do the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9090B"/>
                </a:solidFill>
                <a:latin typeface="Georgia"/>
              </a:rPr>
              <a:t>$2,000 of consultant work — </a:t>
            </a:r>
            <a:r>
              <a:rPr sz="3200" b="1" i="1">
                <a:solidFill>
                  <a:srgbClr val="B45309"/>
                </a:solidFill>
                <a:latin typeface="Georgia"/>
              </a:rPr>
              <a:t>free</a:t>
            </a:r>
            <a:r>
              <a:rPr sz="3200" b="1" i="0">
                <a:solidFill>
                  <a:srgbClr val="09090B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71717A"/>
                </a:solidFill>
                <a:latin typeface="Helvetica Neue"/>
              </a:rPr>
              <a:t>Not a chatbot. A swarm of specialists. Each agent has one narrow job, uses real production tools (not mocks), and hands its output to the next. End-to-end in 38 seconds, in your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2157984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157984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8620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DF8F0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862072"/>
            <a:ext cx="135331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66160"/>
            <a:ext cx="1792224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F3F46"/>
                </a:solidFill>
                <a:latin typeface="Helvetica Neue"/>
              </a:rPr>
              <a:t>Reads her persona — skills, hours, $/mo gap, hard constraints — into a typed schema.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5074920"/>
            <a:ext cx="1792224" cy="13716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16636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33095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8181B"/>
                </a:solidFill>
                <a:latin typeface="Courier New"/>
              </a:rPr>
              <a:t>Pydantic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5961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7607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Helvetica Neue"/>
              </a:rPr>
              <a:t>→ Profile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2788920"/>
            <a:ext cx="2157984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9504" y="2788920"/>
            <a:ext cx="2157984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28620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DF8F0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862072"/>
            <a:ext cx="135331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Market Scout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3566160"/>
            <a:ext cx="1792224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F3F46"/>
                </a:solidFill>
                <a:latin typeface="Helvetica Neue"/>
              </a:rPr>
              <a:t>Pulls 6–10 real evidence cards (Etsy, Castiron, FB groups) and asks Gemini to rank by net $/month.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72384" y="5074920"/>
            <a:ext cx="1792224" cy="13716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2384" y="516636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533095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8181B"/>
                </a:solidFill>
                <a:latin typeface="Courier New"/>
              </a:rPr>
              <a:t>Bright Data + Actionbook + 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55961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57607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Helvetica Neue"/>
              </a:rPr>
              <a:t>→ Ranked opportunities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2788920"/>
            <a:ext cx="2157984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38928" y="2788920"/>
            <a:ext cx="2157984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8620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DF8F0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862072"/>
            <a:ext cx="135331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Reality &amp;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566160"/>
            <a:ext cx="1792224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F3F46"/>
                </a:solidFill>
                <a:latin typeface="Helvetica Neue"/>
              </a:rPr>
              <a:t>Web-searches the state's actual cottage-food law and BLOCKS illegal options with the live .gov citation.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21808" y="5074920"/>
            <a:ext cx="1792224" cy="13716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516636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USES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533095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8181B"/>
                </a:solidFill>
                <a:latin typeface="Courier New"/>
              </a:rPr>
              <a:t>Tavily / Bright Data + 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55961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57607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Helvetica Neue"/>
              </a:rPr>
              <a:t>→ PASS / BLOCK + cited law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88352" y="2788920"/>
            <a:ext cx="2157984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88352" y="2788920"/>
            <a:ext cx="2157984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28620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DF8F0"/>
                </a:solidFill>
                <a:latin typeface="Georg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2862072"/>
            <a:ext cx="135331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3566160"/>
            <a:ext cx="1792224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F3F46"/>
                </a:solidFill>
                <a:latin typeface="Helvetica Neue"/>
              </a:rPr>
              <a:t>Gemini writes her offer, copy, price, target customer, and 7-day plan; publishes a real landing page.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1231" y="5074920"/>
            <a:ext cx="1792224" cy="13716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16636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USES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33095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8181B"/>
                </a:solidFill>
                <a:latin typeface="Courier New"/>
              </a:rPr>
              <a:t>Gemini + Actionbook + Butterbase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55961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OUTPUTS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57607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Helvetica Neue"/>
              </a:rPr>
              <a:t>→ Real /launch/{slug} URL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37776" y="2788920"/>
            <a:ext cx="2157984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F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37776" y="2788920"/>
            <a:ext cx="2157984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02367" y="28620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DF8F0"/>
                </a:solidFill>
                <a:latin typeface="Georgia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1007" y="2862072"/>
            <a:ext cx="135331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DF8F0"/>
                </a:solidFill>
                <a:latin typeface="Helvetica Neue"/>
              </a:rPr>
              <a:t>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0655" y="3566160"/>
            <a:ext cx="1792224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3F3F46"/>
                </a:solidFill>
                <a:latin typeface="Helvetica Neue"/>
              </a:rPr>
              <a:t>Persists her run, then surfaces a cross-user pattern — “moms like you in CA pivoted to X (71% win).”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0655" y="5074920"/>
            <a:ext cx="1792224" cy="13716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0655" y="516636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USES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0655" y="5330952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8181B"/>
                </a:solidFill>
                <a:latin typeface="Courier New"/>
              </a:rPr>
              <a:t>Evermind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0655" y="5596127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71717A"/>
                </a:solidFill>
                <a:latin typeface="Helvetica Neue"/>
              </a:rPr>
              <a:t>OUTPUTS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0655" y="57607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45309"/>
                </a:solidFill>
                <a:latin typeface="Helvetica Neue"/>
              </a:rPr>
              <a:t>→ Persisted run + pattern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6199632"/>
            <a:ext cx="10927080" cy="292608"/>
          </a:xfrm>
          <a:prstGeom prst="roundRect">
            <a:avLst>
              <a:gd name="adj" fmla="val 12000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208776"/>
            <a:ext cx="10927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FDF8F0"/>
                </a:solidFill>
                <a:latin typeface="Courier New"/>
              </a:rPr>
              <a:t>Live at  localhost:5173/run/jenny  ·  38 seconds end-to-end  ·  every step streams to the UI via SSE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Helvetica Neue"/>
              </a:rPr>
              <a:t>Mom's Saheli  ·  Agent Forge AI Hackathon  ·  San Francisco  ·  May 16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Courier New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B45309"/>
                </a:solidFill>
                <a:latin typeface="Helvetica Neue"/>
              </a:rPr>
              <a:t>PROOF  ·  NOTHING IS HARDCODED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09090B"/>
                </a:solidFill>
                <a:latin typeface="Georgia"/>
              </a:rPr>
              <a:t>Two moms. Same engine.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09090B"/>
                </a:solidFill>
                <a:latin typeface="Georgia"/>
              </a:rPr>
              <a:t/>
            </a:r>
            <a:r>
              <a:rPr sz="3600" b="1" i="1">
                <a:solidFill>
                  <a:srgbClr val="B45309"/>
                </a:solidFill>
                <a:latin typeface="Georgia"/>
              </a:rPr>
              <a:t>Completely different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71717A"/>
                </a:solidFill>
                <a:latin typeface="Helvetica Neue"/>
              </a:rPr>
              <a:t>Click Run Jenny or Run Jessica. Same 5 agents. Different state, different skills, different gap. The system produces different launches — because it's actually reasoning, not retrieving canned demos.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5623559" cy="2880360"/>
          </a:xfrm>
          <a:prstGeom prst="roundRect">
            <a:avLst>
              <a:gd name="adj" fmla="val 4000"/>
            </a:avLst>
          </a:prstGeom>
          <a:solidFill>
            <a:srgbClr val="FDF8F0"/>
          </a:solidFill>
          <a:ln w="9525">
            <a:solidFill>
              <a:srgbClr val="E5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5623559" cy="77724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564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FFFFF"/>
                </a:solidFill>
                <a:latin typeface="Georgia"/>
              </a:rPr>
              <a:t>👩🏽‍🍳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56432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Jenny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49039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Daycare aide  ·  California  ·  $600/mo gap  ·  5 hr/wk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5196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Top opp: weekend tiffin / meal-pack subscription ($720/mo)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1772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BLOCKED: CA Health &amp; Safety §114365 (no cottage-food)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8348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Pivots to #2: Sunday freezer-meal drops at farmers'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Real launch page published at /launch/jenny-tiffin-fix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71500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Projected net: $620/mo  →  closes her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59" y="3291840"/>
            <a:ext cx="5623559" cy="2880360"/>
          </a:xfrm>
          <a:prstGeom prst="roundRect">
            <a:avLst>
              <a:gd name="adj" fmla="val 4000"/>
            </a:avLst>
          </a:prstGeom>
          <a:solidFill>
            <a:srgbClr val="FDF8F0"/>
          </a:solidFill>
          <a:ln w="9525">
            <a:solidFill>
              <a:srgbClr val="E5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59" y="3291840"/>
            <a:ext cx="5623559" cy="77724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34564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FFFFF"/>
                </a:solidFill>
                <a:latin typeface="Georgia"/>
              </a:rPr>
              <a:t>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456432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Jessica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749039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Customer-service rep (WFH)  ·  Texas  ·  $400/mo gap  ·  3 hr/wk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4251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5196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Top opp: Etsy printable kids' lunchbox planner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46177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1772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Zero compliance hits — digital, async, no permits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49834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98348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Constraint math passes (3 hr/wk is feasible)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534924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4924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Real Etsy listing draft + landing page published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79" y="571500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8181B"/>
                </a:solidFill>
                <a:latin typeface="Helvetica Neue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71500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F3F46"/>
                </a:solidFill>
                <a:latin typeface="Helvetica Neue"/>
              </a:rPr>
              <a:t>Projected net: $430/mo  →  closes her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Helvetica Neue"/>
              </a:rPr>
              <a:t>Mom's Saheli  ·  Agent Forge AI Hackathon  ·  San Francisco  ·  May 16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Courier New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59E0B"/>
                </a:solidFill>
                <a:latin typeface="Helvetica Neue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1" i="0">
                <a:solidFill>
                  <a:srgbClr val="FDF8F0"/>
                </a:solidFill>
                <a:latin typeface="Georgia"/>
              </a:rPr>
              <a:t>Pick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DF8F0"/>
                </a:solidFill>
                <a:latin typeface="Georgia"/>
              </a:rPr>
              <a:t>We're not shipping AI features.</a:t>
            </a:r>
          </a:p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DF8F0"/>
                </a:solidFill>
                <a:latin typeface="Georgia"/>
              </a:rPr>
              <a:t>We're closing the </a:t>
            </a:r>
            <a:r>
              <a:rPr sz="2800" b="0" i="1">
                <a:solidFill>
                  <a:srgbClr val="F59E0B"/>
                </a:solidFill>
                <a:latin typeface="Georgia"/>
              </a:rPr>
              <a:t>margin gap</a:t>
            </a:r>
            <a:r>
              <a:rPr sz="2800" b="0" i="0">
                <a:solidFill>
                  <a:srgbClr val="FDF8F0"/>
                </a:solidFill>
                <a:latin typeface="Georgia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59E0B"/>
                </a:solidFill>
                <a:latin typeface="Helvetica Neue"/>
              </a:rPr>
              <a:t>WHAT SHIPPED IN 24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DF8F0"/>
                </a:solidFill>
                <a:latin typeface="Helvetica Neue"/>
              </a:rPr>
              <a:t>5-agent swarm  ·  </a:t>
            </a:r>
            <a:r>
              <a:rPr sz="1200" b="1" i="0">
                <a:solidFill>
                  <a:srgbClr val="F59E0B"/>
                </a:solidFill>
                <a:latin typeface="Helvetica Neue"/>
              </a:rPr>
              <a:t>real Gemini calls</a:t>
            </a:r>
            <a:r>
              <a:rPr sz="1200" b="0" i="0">
                <a:solidFill>
                  <a:srgbClr val="FDF8F0"/>
                </a:solidFill>
                <a:latin typeface="Helvetica Neue"/>
              </a:rPr>
              <a:t>  ·  </a:t>
            </a:r>
            <a:r>
              <a:rPr sz="1200" b="1" i="0">
                <a:solidFill>
                  <a:srgbClr val="F59E0B"/>
                </a:solidFill>
                <a:latin typeface="Helvetica Neue"/>
              </a:rPr>
              <a:t>real cited .gov law</a:t>
            </a:r>
            <a:r>
              <a:rPr sz="1200" b="0" i="0">
                <a:solidFill>
                  <a:srgbClr val="FDF8F0"/>
                </a:solidFill>
                <a:latin typeface="Helvetica Neue"/>
              </a:rPr>
              <a:t>  ·  real published landing pages  ·  </a:t>
            </a:r>
            <a:r>
              <a:rPr sz="1200" b="1" i="0">
                <a:solidFill>
                  <a:srgbClr val="F59E0B"/>
                </a:solidFill>
                <a:latin typeface="Helvetica Neue"/>
              </a:rPr>
              <a:t>AgentField nested waterfall</a:t>
            </a:r>
            <a:r>
              <a:rPr sz="1200" b="0" i="0">
                <a:solidFill>
                  <a:srgbClr val="FDF8F0"/>
                </a:solidFill>
                <a:latin typeface="Helvetica Neue"/>
              </a:rPr>
              <a:t>  ·  SSE-streamed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71717A"/>
                </a:solidFill>
                <a:latin typeface="Helvetica Neue"/>
              </a:rPr>
              <a:t>BUILT ON THE AGENT FORGE STACK · EVERY TOOL LOAD-BEARING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49240"/>
            <a:ext cx="10927080" cy="502920"/>
          </a:xfrm>
          <a:prstGeom prst="roundRect">
            <a:avLst>
              <a:gd name="adj" fmla="val 15000"/>
            </a:avLst>
          </a:prstGeom>
          <a:solidFill>
            <a:srgbClr val="18181B"/>
          </a:solidFill>
          <a:ln w="9525">
            <a:solidFill>
              <a:srgbClr val="3F3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13248"/>
            <a:ext cx="109270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DF8F0"/>
                </a:solidFill>
                <a:latin typeface="Helvetica Neue"/>
              </a:rPr>
              <a:t>AgentField  ·  Bright Data  ·  Actionbook  ·  Evermind  ·  Butterbase  ·  Qwen Cloud  ·  Z.ai  ·  TokenRouter  ·  Zeabur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035040"/>
            <a:ext cx="6858000" cy="5029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89904"/>
            <a:ext cx="649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9090B"/>
                </a:solidFill>
                <a:latin typeface="Helvetica Neue"/>
              </a:rPr>
              <a:t>TRY IT NOW  </a:t>
            </a:r>
            <a:r>
              <a:rPr sz="1300" b="1" i="0">
                <a:solidFill>
                  <a:srgbClr val="09090B"/>
                </a:solidFill>
                <a:latin typeface="Courier New"/>
              </a:rPr>
              <a:t>→  github.com/Avinash07-git/momsaheli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585216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0" b="0" i="0">
                <a:solidFill>
                  <a:srgbClr val="FDF8F0"/>
                </a:solidFill>
                <a:latin typeface="Georgia"/>
              </a:rPr>
              <a:t>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1717A"/>
                </a:solidFill>
                <a:latin typeface="Helvetica Neue"/>
              </a:rPr>
              <a:t>🐶 Built with love for every mom doing the math at 11pm.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1717A"/>
                </a:solidFill>
                <a:latin typeface="Courier New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
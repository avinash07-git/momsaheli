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3474720" cy="6858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0" i="0">
                <a:solidFill>
                  <a:srgbClr val="F59E0B"/>
                </a:solidFill>
                <a:latin typeface="Georgia"/>
              </a:rPr>
              <a:t>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7772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B45309"/>
                </a:solidFill>
                <a:latin typeface="Helvetica Neue"/>
              </a:rPr>
              <a:t>AGENT FORGE AI HACKATHON  ·  SAN FRANCISCO  ·  MAY 16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8046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09090B"/>
                </a:solidFill>
                <a:latin typeface="Georgia"/>
              </a:rPr>
              <a:t>The friend every working mom</a:t>
            </a:r>
          </a:p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09090B"/>
                </a:solidFill>
                <a:latin typeface="Georgia"/>
              </a:rPr>
              <a:t>can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1">
                <a:solidFill>
                  <a:srgbClr val="B45309"/>
                </a:solidFill>
                <a:latin typeface="Georgia"/>
              </a:rPr>
              <a:t>finally afford.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3F3F46"/>
                </a:solidFill>
                <a:latin typeface="Helvetica Neue"/>
              </a:rPr>
              <a:t>A 5-agent AI swarm that delivers $2,000 of consultant value</a:t>
            </a:r>
          </a:p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3F3F46"/>
                </a:solidFill>
                <a:latin typeface="Helvetica Neue"/>
              </a:rPr>
              <a:t>for free — for America's 7 million single moms.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5321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5896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50">
                <a:solidFill>
                  <a:srgbClr val="3F3F46"/>
                </a:solidFill>
                <a:latin typeface="Helvetica Neue"/>
              </a:rPr>
              <a:t>LIVE DEMO  ·  REAL GEMINI  ·  REAL CITED .GOV LAW  ·  REAL LAUNCH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B45309"/>
                </a:solidFill>
                <a:latin typeface="Helvetica Neue"/>
              </a:rPr>
              <a:t>BUILT IN 24 HOURS  ·  SOLO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349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8181B"/>
                </a:solidFill>
                <a:latin typeface="Georgia"/>
              </a:rPr>
              <a:t>Avinash Ahuja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852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71717A"/>
                </a:solidFill>
                <a:latin typeface="Courier New"/>
              </a:rPr>
              <a:t>github.com/Avinash07-git/momsaheli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🌸  Mom's Saheli  ·  Agent Forge AI Hackathon  ·  May 16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Courier New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B45309"/>
                </a:solidFill>
                <a:latin typeface="Helvetica Neue"/>
              </a:rPr>
              <a:t>THE WORLD'S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9090B"/>
                </a:solidFill>
                <a:latin typeface="Georgia"/>
              </a:rPr>
              <a:t>She's not short on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1">
                <a:solidFill>
                  <a:srgbClr val="B45309"/>
                </a:solidFill>
                <a:latin typeface="Georgia"/>
              </a:rPr>
              <a:t>She's short on margin.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11880"/>
            <a:ext cx="2606040" cy="2011680"/>
          </a:xfrm>
          <a:prstGeom prst="roundRect">
            <a:avLst>
              <a:gd name="adj" fmla="val 5000"/>
            </a:avLst>
          </a:prstGeom>
          <a:solidFill>
            <a:srgbClr val="FDF8F0"/>
          </a:solidFill>
          <a:ln w="9525">
            <a:solidFill>
              <a:srgbClr val="F4F4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B45309"/>
                </a:solidFill>
                <a:latin typeface="Georgia"/>
              </a:rPr>
              <a:t>7.3M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634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single moms in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America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57800"/>
            <a:ext cx="2148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71717A"/>
                </a:solidFill>
                <a:latin typeface="Helvetica Neue"/>
              </a:rPr>
              <a:t>SOURCE: CENTER FOR AMERICAN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611880"/>
            <a:ext cx="2606040" cy="2011680"/>
          </a:xfrm>
          <a:prstGeom prst="roundRect">
            <a:avLst>
              <a:gd name="adj" fmla="val 5000"/>
            </a:avLst>
          </a:prstGeom>
          <a:solidFill>
            <a:srgbClr val="FDF8F0"/>
          </a:solidFill>
          <a:ln w="9525">
            <a:solidFill>
              <a:srgbClr val="F4F4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38404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B45309"/>
                </a:solidFill>
                <a:latin typeface="Georgia"/>
              </a:rPr>
              <a:t>75%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6634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already working —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most full-time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5257800"/>
            <a:ext cx="2148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71717A"/>
                </a:solidFill>
                <a:latin typeface="Helvetica Neue"/>
              </a:rPr>
              <a:t>SOURCE: CAP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611880"/>
            <a:ext cx="2606040" cy="2011680"/>
          </a:xfrm>
          <a:prstGeom prst="roundRect">
            <a:avLst>
              <a:gd name="adj" fmla="val 5000"/>
            </a:avLst>
          </a:prstGeom>
          <a:solidFill>
            <a:srgbClr val="FDF8F0"/>
          </a:solidFill>
          <a:ln w="9525">
            <a:solidFill>
              <a:srgbClr val="F4F4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8404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B45309"/>
                </a:solidFill>
                <a:latin typeface="Georgia"/>
              </a:rPr>
              <a:t>$40K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6634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median income,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working single mom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257800"/>
            <a:ext cx="2148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71717A"/>
                </a:solidFill>
                <a:latin typeface="Helvetica Neue"/>
              </a:rPr>
              <a:t>SOURCE: CAP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3611880"/>
            <a:ext cx="2606040" cy="2011680"/>
          </a:xfrm>
          <a:prstGeom prst="roundRect">
            <a:avLst>
              <a:gd name="adj" fmla="val 5000"/>
            </a:avLst>
          </a:prstGeom>
          <a:solidFill>
            <a:srgbClr val="FDF8F0"/>
          </a:solidFill>
          <a:ln w="9525">
            <a:solidFill>
              <a:srgbClr val="F4F4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38404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B45309"/>
                </a:solidFill>
                <a:latin typeface="Georgia"/>
              </a:rPr>
              <a:t>35%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6634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of that income eaten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by childcare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5257800"/>
            <a:ext cx="2148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71717A"/>
                </a:solidFill>
                <a:latin typeface="Helvetica Neue"/>
              </a:rPr>
              <a:t>SOURCE: CHILD CARE AWARE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97880"/>
            <a:ext cx="10927080" cy="457200"/>
          </a:xfrm>
          <a:prstGeom prst="roundRect">
            <a:avLst>
              <a:gd name="adj" fmla="val 15000"/>
            </a:avLst>
          </a:prstGeom>
          <a:solidFill>
            <a:srgbClr val="090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934456"/>
            <a:ext cx="10607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DF8F0"/>
                </a:solidFill>
                <a:latin typeface="Helvetica Neue"/>
              </a:rPr>
              <a:t>What she needs:  consultant $2,000  ·  lawyer $200/hr  ·  marketer $200/hr  ·  bookkeeper $200/hr        What she can afford:  $0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🌸  Mom's Saheli  ·  Agent Forge AI Hackathon  ·  May 16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Courier New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B45309"/>
                </a:solidFill>
                <a:latin typeface="Helvetica Neue"/>
              </a:rPr>
              <a:t>OUR SOLUTION  ·  MOM'S SAHELI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09090B"/>
                </a:solidFill>
                <a:latin typeface="Georgia"/>
              </a:rPr>
              <a:t>5 specialist AI agents do the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09090B"/>
                </a:solidFill>
                <a:latin typeface="Georgia"/>
              </a:rPr>
              <a:t>$2,000-of-consultant work —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566160"/>
            <a:ext cx="6675120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7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B45309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8181B"/>
                </a:solidFill>
                <a:latin typeface="Helvetica Neue"/>
              </a:rPr>
              <a:t>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1600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Normalize skills,</a:t>
            </a:r>
          </a:p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hours, constraints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39" y="310896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39" y="315467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B45309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977639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8181B"/>
                </a:solidFill>
                <a:latin typeface="Helvetica Neue"/>
              </a:rPr>
              <a:t>Market Scout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1600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Rank 6–10 paths by</a:t>
            </a:r>
          </a:p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realistic net $/mo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0896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315467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B45309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977639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8181B"/>
                </a:solidFill>
                <a:latin typeface="Helvetica Neue"/>
              </a:rPr>
              <a:t>Reality &amp; Compliance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343400"/>
            <a:ext cx="1600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Block illegal options</a:t>
            </a:r>
          </a:p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with cited state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10896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315467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B45309"/>
                </a:solidFill>
                <a:latin typeface="Georg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977639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8181B"/>
                </a:solidFill>
                <a:latin typeface="Helvetica Neue"/>
              </a:rPr>
              <a:t>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343400"/>
            <a:ext cx="1600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Offer + 7-day plan +</a:t>
            </a:r>
          </a:p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real published page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310896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15467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B45309"/>
                </a:solidFill>
                <a:latin typeface="Georgia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77639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8181B"/>
                </a:solidFill>
                <a:latin typeface="Helvetica Neue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343400"/>
            <a:ext cx="1600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Persist + surface</a:t>
            </a:r>
          </a:p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cross-user pattern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71717A"/>
                </a:solidFill>
                <a:latin typeface="Helvetica Neue"/>
              </a:rPr>
              <a:t>Real Gemini 2.5 Flash  ·  Real Tavily SERP  ·  Real Bright Data  ·  Real Actionbook browser  ·  Real published .com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10927080" cy="77724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73152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7150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50">
                <a:solidFill>
                  <a:srgbClr val="B91C1C"/>
                </a:solidFill>
                <a:latin typeface="Helvetica Neue"/>
              </a:rPr>
              <a:t>🛑  THE DEMO MOMENT  ·  COMPLIANCE BLOCK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989320"/>
            <a:ext cx="105613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8181B"/>
                </a:solidFill>
                <a:latin typeface="Georgia"/>
              </a:rPr>
              <a:t>Jenny's #1 ranked offer gets BLOCKED. Cited live: California Health &amp; Safety Code §114365 — “Direct sale of home-prepared meals requires a Cottage Food Operator permit.” Source: cdph.ca.gov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🌸  Mom's Saheli  ·  Agent Forge AI Hackathon  ·  May 16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Courier New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B45309"/>
                </a:solidFill>
                <a:latin typeface="Helvetica Neue"/>
              </a:rPr>
              <a:t>PROOF  ·  NOTHING IS HARDCODED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09090B"/>
                </a:solidFill>
                <a:latin typeface="Georgia"/>
              </a:rPr>
              <a:t>Two moms. Same engine.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09090B"/>
                </a:solidFill>
                <a:latin typeface="Georgia"/>
              </a:rPr>
              <a:t>Completely different output.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26080"/>
            <a:ext cx="5623559" cy="3154680"/>
          </a:xfrm>
          <a:prstGeom prst="roundRect">
            <a:avLst>
              <a:gd name="adj" fmla="val 4000"/>
            </a:avLst>
          </a:prstGeom>
          <a:solidFill>
            <a:srgbClr val="FDF8F0"/>
          </a:solidFill>
          <a:ln w="9525">
            <a:solidFill>
              <a:srgbClr val="E5E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5623559" cy="7772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90672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👩🏽‍🍳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90672"/>
            <a:ext cx="4526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Jenny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383280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Helvetica Neue"/>
              </a:rPr>
              <a:t>Daycare aide  ·  California  ·  $600/mo gap  ·  5 hr/wk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886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Top opp: weekend tiffin / meal-pack subscription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BLOCKED: CA Health &amp; Safety §114365 (cottage food)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0916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091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Pivots to a legal #2: home-cooked freezer kits at the farmers'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120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Real launch page published at /launch/jenny-…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5321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Net $/mo projection: $620 — closes the gap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59" y="2926080"/>
            <a:ext cx="5623559" cy="3154680"/>
          </a:xfrm>
          <a:prstGeom prst="roundRect">
            <a:avLst>
              <a:gd name="adj" fmla="val 4000"/>
            </a:avLst>
          </a:prstGeom>
          <a:solidFill>
            <a:srgbClr val="FDF8F0"/>
          </a:solidFill>
          <a:ln w="9525">
            <a:solidFill>
              <a:srgbClr val="E5E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59" y="2926080"/>
            <a:ext cx="5623559" cy="777240"/>
          </a:xfrm>
          <a:prstGeom prst="roundRect">
            <a:avLst>
              <a:gd name="adj" fmla="val 4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59" y="3090672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090672"/>
            <a:ext cx="4526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Jessica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383280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Helvetica Neue"/>
              </a:rPr>
              <a:t>Customer-service rep (WFH)  ·  Texas  ·  $400/mo gap  ·  3 hr/wk  ·  digital-only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79" y="38862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886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Top opp: Etsy printable kids' lunchbox planner pack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42976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Zero compliance hits — digital, async, no permits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79" y="470916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Constraint math passes (3 hr/wk feasible)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79" y="51206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5120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Real Etsy listing draft + launch page published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79" y="55321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81B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5321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F3F46"/>
                </a:solidFill>
                <a:latin typeface="Helvetica Neue"/>
              </a:rPr>
              <a:t>Net $/mo projection: $430 — closes the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71717A"/>
                </a:solidFill>
                <a:latin typeface="Helvetica Neue"/>
              </a:rPr>
              <a:t>Same swarm. Different regulation. Different math. Different launch — it's the system doing the work, not a script.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Helvetica Neue"/>
              </a:rPr>
              <a:t>🌸  Mom's Saheli  ·  Agent Forge AI Hackathon  ·  May 16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Courier New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1673352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F59E0B"/>
                </a:solidFill>
                <a:latin typeface="Helvetica Neue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 i="0">
                <a:solidFill>
                  <a:srgbClr val="FDF8F0"/>
                </a:solidFill>
                <a:latin typeface="Georgia"/>
              </a:rPr>
              <a:t>Pick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F59E0B"/>
                </a:solidFill>
                <a:latin typeface="Georgia"/>
              </a:rPr>
              <a:t>We're not shipping AI features.</a:t>
            </a:r>
          </a:p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F59E0B"/>
                </a:solidFill>
                <a:latin typeface="Georgia"/>
              </a:rPr>
              <a:t>We're closing the margin gap.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71717A"/>
                </a:solidFill>
                <a:latin typeface="Helvetica Neue"/>
              </a:rPr>
              <a:t>BUILT ON THE AGENT FORGE STACK · EVERY TOOL LOAD-BEARING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26280"/>
            <a:ext cx="10927080" cy="548640"/>
          </a:xfrm>
          <a:prstGeom prst="roundRect">
            <a:avLst>
              <a:gd name="adj" fmla="val 15000"/>
            </a:avLst>
          </a:prstGeom>
          <a:solidFill>
            <a:srgbClr val="18181B"/>
          </a:solidFill>
          <a:ln w="9525">
            <a:solidFill>
              <a:srgbClr val="3F3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10927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DF8F0"/>
                </a:solidFill>
                <a:latin typeface="Helvetica Neue"/>
              </a:rPr>
              <a:t>AgentField  ·  Bright Data  ·  Actionbook  ·  Evermind  ·  Butterbase  ·  Qwen Cloud  ·  Z.ai  ·  TokenRouter  ·  Zeabur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8640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09090B"/>
                </a:solidFill>
                <a:latin typeface="Helvetica Neue"/>
              </a:rPr>
              <a:t>TRY IT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70448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9090B"/>
                </a:solidFill>
                <a:latin typeface="Courier New"/>
              </a:rPr>
              <a:t>github.com/Avinash07-git/momsaheli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48640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0" i="0">
                <a:solidFill>
                  <a:srgbClr val="F59E0B"/>
                </a:solidFill>
                <a:latin typeface="Georgia"/>
              </a:rPr>
              <a:t>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1717A"/>
                </a:solidFill>
                <a:latin typeface="Helvetica Neue"/>
              </a:rPr>
              <a:t>🐶 Built with love for every mom doing the math at 11pm.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1717A"/>
                </a:solidFill>
                <a:latin typeface="Courier New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